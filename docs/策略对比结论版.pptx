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59436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资配</a:t>
            </a: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策略定量对比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06640" y="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dirty="0">
                <a:solidFill>
                  <a:srgbClr val="FFE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2026.04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75488" y="960120"/>
            <a:ext cx="54864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75488" y="1883664"/>
            <a:ext cx="54864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4A6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 420_static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75488" y="2596896"/>
            <a:ext cx="5303520" cy="0"/>
          </a:xfrm>
          <a:prstGeom prst="line">
            <a:avLst/>
          </a:prstGeom>
          <a:noFill/>
          <a:ln w="25400">
            <a:solidFill>
              <a:srgbClr val="F5A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70662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类客户画像  ·  5 个回测窗口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5488" y="312724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大评估维度  ·  全维度定量对比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697480" cy="457200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9144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55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97480" cy="694944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  <a:effectLst>
            <a:outerShdw blurRad="127000" dist="38100" dir="8100000" algn="bl" rotWithShape="0">
              <a:srgbClr val="4A6FA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41148" cy="694944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463040"/>
            <a:ext cx="38404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48272" y="149961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48272" y="18105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全窗口领先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267712"/>
            <a:ext cx="2697480" cy="694944"/>
          </a:xfrm>
          <a:prstGeom prst="rect">
            <a:avLst/>
          </a:prstGeom>
          <a:solidFill>
            <a:srgbClr val="E8F8EF"/>
          </a:solidFill>
          <a:ln w="10160">
            <a:solidFill>
              <a:srgbClr val="A9DFBF"/>
            </a:solidFill>
            <a:prstDash val="solid"/>
          </a:ln>
          <a:effectLst>
            <a:outerShdw blurRad="127000" dist="38100" dir="8100000" algn="bl" rotWithShape="0">
              <a:srgbClr val="4A6FA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267712"/>
            <a:ext cx="41148" cy="694944"/>
          </a:xfrm>
          <a:prstGeom prst="rect">
            <a:avLst/>
          </a:prstGeom>
          <a:solidFill>
            <a:srgbClr val="219653"/>
          </a:solidFill>
          <a:ln w="12700">
            <a:solidFill>
              <a:srgbClr val="219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267712"/>
            <a:ext cx="38404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9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48272" y="230428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风险匹配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48272" y="261518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全窗口更优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072384"/>
            <a:ext cx="2697480" cy="694944"/>
          </a:xfrm>
          <a:prstGeom prst="rect">
            <a:avLst/>
          </a:prstGeom>
          <a:solidFill>
            <a:srgbClr val="E0F4F6"/>
          </a:solidFill>
          <a:ln w="10160">
            <a:solidFill>
              <a:srgbClr val="91D8E4"/>
            </a:solidFill>
            <a:prstDash val="solid"/>
          </a:ln>
          <a:effectLst>
            <a:outerShdw blurRad="127000" dist="38100" dir="8100000" algn="bl" rotWithShape="0">
              <a:srgbClr val="4A6FA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3072384"/>
            <a:ext cx="41148" cy="694944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072384"/>
            <a:ext cx="38404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A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48272" y="310896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夏普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48272" y="341985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中短期占优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877056"/>
            <a:ext cx="2697480" cy="694944"/>
          </a:xfrm>
          <a:prstGeom prst="rect">
            <a:avLst/>
          </a:prstGeom>
          <a:solidFill>
            <a:srgbClr val="FDECEA"/>
          </a:solidFill>
          <a:ln w="10160">
            <a:solidFill>
              <a:srgbClr val="F1948A"/>
            </a:solidFill>
            <a:prstDash val="solid"/>
          </a:ln>
          <a:effectLst>
            <a:outerShdw blurRad="127000" dist="38100" dir="8100000" algn="bl" rotWithShape="0">
              <a:srgbClr val="4A6FA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3877056"/>
            <a:ext cx="41148" cy="694944"/>
          </a:xfrm>
          <a:prstGeom prst="rect">
            <a:avLst/>
          </a:prstGeom>
          <a:solidFill>
            <a:srgbClr val="D94F2B"/>
          </a:solidFill>
          <a:ln w="12700">
            <a:solidFill>
              <a:srgbClr val="D94F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877056"/>
            <a:ext cx="38404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4F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48272" y="391363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MaxDD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48272" y="42245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20y 压力更高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4DE"/>
          </a:solidFill>
          <a:ln w="6350">
            <a:solidFill>
              <a:srgbClr val="D8D4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策略对比结论版  ·  2026.04  ·  内部使用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919472"/>
            <a:ext cx="59436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胜率分析  —  3.0 优于 420_static 的画像占比（35类）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4DE"/>
          </a:solidFill>
          <a:ln w="6350">
            <a:solidFill>
              <a:srgbClr val="D8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策略对比结论版  ·  2026.04  ·  内部使用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9436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03504"/>
            <a:ext cx="8595360" cy="384048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603504"/>
            <a:ext cx="41148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603504"/>
            <a:ext cx="8366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收益胜率 77–89% 全程强势；风险匹配胜率全窗口领先；夏普胜率仅 20y 跌破 50%（48.6%），是唯一弱项。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42416"/>
            <a:ext cx="841248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MaxDD 极端回撤  —  红线触碰率对比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4DE"/>
          </a:solidFill>
          <a:ln w="6350">
            <a:solidFill>
              <a:srgbClr val="D8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策略对比结论版  ·  2026.04  ·  内部使用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9436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03504"/>
            <a:ext cx="8595360" cy="384048"/>
          </a:xfrm>
          <a:prstGeom prst="rect">
            <a:avLst/>
          </a:prstGeom>
          <a:solidFill>
            <a:srgbClr val="FEF3E8"/>
          </a:solidFill>
          <a:ln w="10160">
            <a:solidFill>
              <a:srgbClr val="F8C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603504"/>
            <a:ext cx="41148" cy="38404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603504"/>
            <a:ext cx="8366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1y–10y 两套策略均未触碰回撤红线；20y 极端市场（含2008）下，3.0 触线率 71.4%，420 为 60.0%，均需关注。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42416"/>
            <a:ext cx="841248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综合结论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4DE"/>
          </a:solidFill>
          <a:ln w="6350">
            <a:solidFill>
              <a:srgbClr val="D8D4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9472"/>
            <a:ext cx="777240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智能投顾 3.0 vs 420_static  ·  策略对比结论版  ·  2026.04  ·  内部使用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94360" cy="2240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48640"/>
            <a:ext cx="9144000" cy="530352"/>
          </a:xfrm>
          <a:prstGeom prst="rect">
            <a:avLst/>
          </a:prstGeom>
          <a:solidFill>
            <a:srgbClr val="FEF3E8"/>
          </a:solidFill>
          <a:ln w="7620">
            <a:solidFill>
              <a:srgbClr val="F8C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548640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55A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 的核心优势：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548640"/>
            <a:ext cx="5852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79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收益更高  +  风险匹配更优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19456" y="1207008"/>
            <a:ext cx="2779776" cy="3364992"/>
          </a:xfrm>
          <a:prstGeom prst="rect">
            <a:avLst/>
          </a:prstGeom>
          <a:solidFill>
            <a:srgbClr val="FEF3E8"/>
          </a:solidFill>
          <a:ln w="12700">
            <a:solidFill>
              <a:srgbClr val="F8C490"/>
            </a:solidFill>
            <a:prstDash val="solid"/>
          </a:ln>
          <a:effectLst>
            <a:outerShdw blurRad="127000" dist="38100" dir="8100000" algn="bl" rotWithShape="0">
              <a:srgbClr val="4A6FA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9456" y="1207008"/>
            <a:ext cx="2779776" cy="594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353312"/>
            <a:ext cx="475488" cy="47548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3533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50976" y="138988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收益与风险匹配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4048" y="1938528"/>
            <a:ext cx="2450592" cy="0"/>
          </a:xfrm>
          <a:prstGeom prst="line">
            <a:avLst/>
          </a:prstGeom>
          <a:noFill/>
          <a:ln w="11430">
            <a:solidFill>
              <a:srgbClr val="F8C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048256"/>
            <a:ext cx="2450592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两大优势贯穿全部时间窗口，在 35 个客户画像中广泛分布，并非偶然现象。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63824" y="1207008"/>
            <a:ext cx="2779776" cy="3364992"/>
          </a:xfrm>
          <a:prstGeom prst="rect">
            <a:avLst/>
          </a:prstGeom>
          <a:solidFill>
            <a:srgbClr val="E0F4F6"/>
          </a:solidFill>
          <a:ln w="12700">
            <a:solidFill>
              <a:srgbClr val="91D8E4"/>
            </a:solidFill>
            <a:prstDash val="solid"/>
          </a:ln>
          <a:effectLst>
            <a:outerShdw blurRad="127000" dist="38100" dir="8100000" algn="bl" rotWithShape="0">
              <a:srgbClr val="4A6FA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63824" y="1207008"/>
            <a:ext cx="2779776" cy="59436"/>
          </a:xfrm>
          <a:prstGeom prst="rect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8416" y="1353312"/>
            <a:ext cx="475488" cy="475488"/>
          </a:xfrm>
          <a:prstGeom prst="ellipse">
            <a:avLst/>
          </a:prstGeom>
          <a:solidFill>
            <a:srgbClr val="0D7A8C"/>
          </a:solidFill>
          <a:ln w="12700">
            <a:solidFill>
              <a:srgbClr val="0D7A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13533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95344" y="138988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夏普比率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328416" y="1938528"/>
            <a:ext cx="2450592" cy="0"/>
          </a:xfrm>
          <a:prstGeom prst="line">
            <a:avLst/>
          </a:prstGeom>
          <a:noFill/>
          <a:ln w="11430">
            <a:solidFill>
              <a:srgbClr val="91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28416" y="2048256"/>
            <a:ext cx="2450592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1y–10y 占优；20y 超长窗口更高风险暴露拖累风险收益比（0.67 vs 0.71）。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08192" y="1207008"/>
            <a:ext cx="2779776" cy="3364992"/>
          </a:xfrm>
          <a:prstGeom prst="rect">
            <a:avLst/>
          </a:prstGeom>
          <a:solidFill>
            <a:srgbClr val="FDECEA"/>
          </a:solidFill>
          <a:ln w="12700">
            <a:solidFill>
              <a:srgbClr val="F1948A"/>
            </a:solidFill>
            <a:prstDash val="solid"/>
          </a:ln>
          <a:effectLst>
            <a:outerShdw blurRad="127000" dist="38100" dir="8100000" algn="bl" rotWithShape="0">
              <a:srgbClr val="4A6FA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08192" y="1207008"/>
            <a:ext cx="2779776" cy="59436"/>
          </a:xfrm>
          <a:prstGeom prst="rect">
            <a:avLst/>
          </a:prstGeom>
          <a:solidFill>
            <a:srgbClr val="D94F2B"/>
          </a:solidFill>
          <a:ln w="12700">
            <a:solidFill>
              <a:srgbClr val="D94F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1353312"/>
            <a:ext cx="475488" cy="475488"/>
          </a:xfrm>
          <a:prstGeom prst="ellipse">
            <a:avLst/>
          </a:prstGeom>
          <a:solidFill>
            <a:srgbClr val="D94F2B"/>
          </a:solidFill>
          <a:ln w="12700">
            <a:solidFill>
              <a:srgbClr val="D94F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3533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39712" y="1389888"/>
            <a:ext cx="19385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MaxDD 极端回撤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72784" y="1938528"/>
            <a:ext cx="2450592" cy="0"/>
          </a:xfrm>
          <a:prstGeom prst="line">
            <a:avLst/>
          </a:prstGeom>
          <a:noFill/>
          <a:ln w="11430">
            <a:solidFill>
              <a:srgbClr val="F194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2048256"/>
            <a:ext cx="2450592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A66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20y 触线率高于 420（71.4% vs 60%），两套策略均承压，需持续关注。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WPS Docs</Application>
  <PresentationFormat>On-screen Show (16:9)</PresentationFormat>
  <Paragraphs>86</Paragraphs>
  <Slides>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SimSun</vt:lpstr>
      <vt:lpstr>Wingdings</vt:lpstr>
      <vt:lpstr>Microsoft YaHei</vt:lpstr>
      <vt:lpstr>汉仪旗黑</vt:lpstr>
      <vt:lpstr>Microsoft YaHei</vt:lpstr>
      <vt:lpstr>Microsoft YaHei</vt:lpstr>
      <vt:lpstr>Calibri</vt:lpstr>
      <vt:lpstr>Helvetica Neue</vt:lpstr>
      <vt:lpstr>Microsoft YaHei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策略对比结论版</dc:title>
  <dc:creator>PptxGenJS</dc:creator>
  <dc:subject>PptxGenJS Presentation</dc:subject>
  <cp:lastModifiedBy>Leon LZY</cp:lastModifiedBy>
  <cp:revision>4</cp:revision>
  <dcterms:created xsi:type="dcterms:W3CDTF">2026-04-14T08:27:33Z</dcterms:created>
  <dcterms:modified xsi:type="dcterms:W3CDTF">2026-04-14T08:27:33Z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FC7E5ECC0C7DB698F7F9DD69E58B7964_42</vt:lpwstr>
  </property>
  <property fmtid="{D5CDD505-2E9C-101B-9397-08002B2CF9AE}" pid="3" name="KSOProductBuildVer">
    <vt:lpwstr>1033-12.1.25205.25205</vt:lpwstr>
  </property>
</Properties>
</file>