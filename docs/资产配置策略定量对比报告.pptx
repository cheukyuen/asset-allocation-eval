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7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 vs  420_static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1600200"/>
            <a:ext cx="6949440" cy="0"/>
          </a:xfrm>
          <a:prstGeom prst="line">
            <a:avLst/>
          </a:prstGeom>
          <a:noFill/>
          <a:ln w="15240">
            <a:solidFill>
              <a:srgbClr val="FFCC99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97280" y="3246120"/>
            <a:ext cx="6949440" cy="0"/>
          </a:xfrm>
          <a:prstGeom prst="line">
            <a:avLst/>
          </a:prstGeom>
          <a:noFill/>
          <a:ln w="15240">
            <a:solidFill>
              <a:srgbClr val="FFCC9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资产配置策略定量对比报告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0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全维度回测评估  ·  35 类客户画像  ·  5 个时间窗口  ·  4 大评估维度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708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4 月    |    量化投资研究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  —  核心结论一览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03504"/>
            <a:ext cx="8595360" cy="475488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</a:ln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结论：3.0 在收益能力与风险匹配度上全窗口领先；夏普比率在 1y–10y 窗口占优；20y 超长窗口极端回撤压力更高，需关注。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52144"/>
            <a:ext cx="4160520" cy="1691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52144"/>
            <a:ext cx="64008" cy="1691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6187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收益能力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591056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全窗口领先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38912" y="1993392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1y: +4.7pp  ·  5y: +2.1pp  ·  20y: +0.6pp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52144"/>
            <a:ext cx="4160520" cy="1691640"/>
          </a:xfrm>
          <a:prstGeom prst="rect">
            <a:avLst/>
          </a:prstGeom>
          <a:solidFill>
            <a:srgbClr val="E8F5E9"/>
          </a:solidFill>
          <a:ln w="12700">
            <a:solidFill>
              <a:srgbClr val="F4792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52144"/>
            <a:ext cx="64008" cy="1691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26187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夏普比率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1591056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1y–10y 占优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28032" y="1993392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1y: 2.23 vs 2.04  ·  10y: 0.95 vs 0.88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20y: 0.67 &lt; 0.71（需关注）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80944"/>
            <a:ext cx="4160520" cy="1691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80944"/>
            <a:ext cx="64008" cy="1691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9067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风险匹配度 |Δσ|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419856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全窗口更优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38912" y="3822192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1y: 2.84% vs 3.93%  ·  5y: 2.39% vs 2.88%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均更接近客户风险中枢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980944"/>
            <a:ext cx="4160520" cy="1691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C222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80944"/>
            <a:ext cx="64008" cy="1691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09067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MaxDD 触线率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3419856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C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20y 压力更大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828032" y="3822192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1y–10y：两套均未触线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20y: 3.0=71.4%  ·  420=60.0%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研究背景与方法论框架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核心命题：剥离产品噪音与费用差异，纯粹比较两套策略体系在四大类资产上的配置能力差异。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3977640" cy="3474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78992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对比对象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3977640" cy="86868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627632"/>
            <a:ext cx="475488" cy="47548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276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 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0976" y="153619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" y="187452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大模型生成四大类资产配置权重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3977640" cy="86868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633472"/>
            <a:ext cx="475488" cy="47548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334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 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0976" y="254203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420_static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976" y="288036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420 体系「增值 + 200W–1000W」静态权重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1078992"/>
            <a:ext cx="4434840" cy="3474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078992"/>
            <a:ext cx="4434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统一评估口径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34840" y="1508760"/>
            <a:ext cx="36576" cy="5943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1508760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4大资产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0288" y="1801368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CASH · BOND · EQUITY · ALT（统一指数月收益序列）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167128"/>
            <a:ext cx="411480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2276856"/>
            <a:ext cx="36576" cy="5943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2276856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35画像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90288" y="2569464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风险等级（C1–C5）× 7 生命周期（S1–S7）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2935224"/>
            <a:ext cx="411480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3044952"/>
            <a:ext cx="36576" cy="5943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3044952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5窗口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90288" y="3337560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 / 3y / 5y / 10y / 20y 历史回测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3703320"/>
            <a:ext cx="411480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0" y="3813048"/>
            <a:ext cx="36576" cy="5943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381304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4指标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90288" y="4105656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年化收益 · 夏普比率 · |Δσ| · MaxDD 触线率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回测方法论  —  先统一口径，再比结果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核心逻辑：先统一输入口径，再统一计算规则，最后统一汇总方式——确保差异来自策略配置本身。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1389888" cy="16916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234440"/>
            <a:ext cx="512064" cy="512064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2344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" y="2194560"/>
            <a:ext cx="124358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C1–C5 × S1–S7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19072" y="180594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792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011680" y="1143000"/>
            <a:ext cx="1389888" cy="16916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1234440"/>
            <a:ext cx="512064" cy="512064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2344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84832" y="1810512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策略权重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84832" y="2194560"/>
            <a:ext cx="124358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3.0权重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420静态权重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180594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792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749040" y="1143000"/>
            <a:ext cx="1389888" cy="16916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87952" y="1234440"/>
            <a:ext cx="512064" cy="512064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12344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22192" y="1810512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统一指数映射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22192" y="2194560"/>
            <a:ext cx="124358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四大类资产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月收益序列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93792" y="180594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792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0" y="1143000"/>
            <a:ext cx="1389888" cy="16916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25312" y="1234440"/>
            <a:ext cx="512064" cy="512064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12344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59552" y="1810512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分窗口回测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59552" y="2194560"/>
            <a:ext cx="124358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1y/3y/5y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10y/20y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31152" y="180594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792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223760" y="1143000"/>
            <a:ext cx="1389888" cy="16916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62672" y="1234440"/>
            <a:ext cx="512064" cy="512064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12344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96912" y="1810512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指标汇总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96912" y="2194560"/>
            <a:ext cx="124358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绝对水平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胜率对比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2944368"/>
            <a:ext cx="8595360" cy="38404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说明：两套策略使用完全一致的四大类资产指数收益序列，剥离产品噪音与费用差异，保证对比有效性。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风险锚体系  —  核心定位与设计原则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核心思路：先定义客户能承受多少风险（风险容器），再评估策略是否把风险用在了正确的地方。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069848"/>
            <a:ext cx="4023360" cy="3474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69848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风险锚承担的三项职责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4023360" cy="868680"/>
          </a:xfrm>
          <a:prstGeom prst="rect">
            <a:avLst/>
          </a:prstGeom>
          <a:solidFill>
            <a:srgbClr val="FEF3E8"/>
          </a:solidFill>
          <a:ln w="12700">
            <a:solidFill>
              <a:srgbClr val="F8C4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481328"/>
            <a:ext cx="64008" cy="86868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3619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事前约束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184708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ex-ante constraint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为各策略引擎提供统一风险边界，防止配置过激进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4023360" cy="868680"/>
          </a:xfrm>
          <a:prstGeom prst="rect">
            <a:avLst/>
          </a:prstGeom>
          <a:solidFill>
            <a:srgbClr val="FEF3E8"/>
          </a:solidFill>
          <a:ln w="12700">
            <a:solidFill>
              <a:srgbClr val="F8C4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87168"/>
            <a:ext cx="64008" cy="86868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4203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事后评估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85292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ex-post evaluation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对策略结果做统一适配性评分（|Δσ| + MaxDD）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4023360" cy="868680"/>
          </a:xfrm>
          <a:prstGeom prst="rect">
            <a:avLst/>
          </a:prstGeom>
          <a:solidFill>
            <a:srgbClr val="FEF3E8"/>
          </a:solidFill>
          <a:ln w="12700">
            <a:solidFill>
              <a:srgbClr val="F8C4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93008"/>
            <a:ext cx="64008" cy="86868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4787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横向可比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cross-engine comparability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目标函数不同的策略在同一把尺子下比较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069848"/>
            <a:ext cx="4297680" cy="3474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069848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核心设计原则（5条）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1508760"/>
            <a:ext cx="4572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55448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先定风险容器，再评估配置结果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2075688"/>
            <a:ext cx="420624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2157984"/>
            <a:ext cx="4572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203704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生命周期与风险等级分层解耦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63440" y="2724912"/>
            <a:ext cx="420624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807208"/>
            <a:ext cx="4572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852928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风险匹配优于风险最低（越近 σ_mid 越好）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663440" y="3374136"/>
            <a:ext cx="420624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456432"/>
            <a:ext cx="4572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5021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行业给方法论，本项目给参数化落地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663440" y="4023360"/>
            <a:ext cx="420624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4105656"/>
            <a:ext cx="4572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151376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σ（常态）与 MaxDD（极端）分工明确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风险锚体系  —  参数化落地（双层结构）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两层结构：生命周期决定风险预算基础上限（σ_stage_max），风险等级决定实际承受强度（m_risk）。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060704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生命周期参数  —  σ_stage_max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1417320"/>
            <a:ext cx="4023360" cy="28346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417320"/>
            <a:ext cx="11887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63040" y="1417320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σ_stage_max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377440" y="1417320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1700784"/>
            <a:ext cx="4023360" cy="283464"/>
          </a:xfrm>
          <a:prstGeom prst="rect">
            <a:avLst/>
          </a:prstGeom>
          <a:solidFill>
            <a:srgbClr val="FAFAFA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1752" y="1700784"/>
            <a:ext cx="116128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刚毕业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463040" y="1700784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377440" y="1700784"/>
            <a:ext cx="189280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积累早期，human capital 最高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1984248"/>
            <a:ext cx="4023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" y="1984248"/>
            <a:ext cx="116128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单身青年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463040" y="1984248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377440" y="1984248"/>
            <a:ext cx="189280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长期积累为主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2267712"/>
            <a:ext cx="4023360" cy="283464"/>
          </a:xfrm>
          <a:prstGeom prst="rect">
            <a:avLst/>
          </a:prstGeom>
          <a:solidFill>
            <a:srgbClr val="FAFAFA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1752" y="2267712"/>
            <a:ext cx="116128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二人世界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463040" y="2267712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377440" y="2267712"/>
            <a:ext cx="189280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家庭责任上升，风险收敛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2551176"/>
            <a:ext cx="4023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1752" y="2551176"/>
            <a:ext cx="116128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S4 小孩学前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463040" y="2551176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377440" y="2551176"/>
            <a:ext cx="189280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现金流支出上升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74320" y="2834640"/>
            <a:ext cx="4023360" cy="283464"/>
          </a:xfrm>
          <a:prstGeom prst="rect">
            <a:avLst/>
          </a:prstGeom>
          <a:solidFill>
            <a:srgbClr val="FAFAFA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1752" y="2834640"/>
            <a:ext cx="116128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S5 小孩成年前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463040" y="2834640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0.13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377440" y="2834640"/>
            <a:ext cx="189280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教育压力提升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4320" y="3118104"/>
            <a:ext cx="4023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1752" y="3118104"/>
            <a:ext cx="116128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S6 子女成年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463040" y="3118104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377440" y="3118104"/>
            <a:ext cx="189280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接近退休准备阶段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74320" y="3401568"/>
            <a:ext cx="4023360" cy="283464"/>
          </a:xfrm>
          <a:prstGeom prst="rect">
            <a:avLst/>
          </a:prstGeom>
          <a:solidFill>
            <a:srgbClr val="FAFAFA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01752" y="3401568"/>
            <a:ext cx="116128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S7 退休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463040" y="3401568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0.08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2377440" y="3401568"/>
            <a:ext cx="1892808" cy="283464"/>
          </a:xfrm>
          <a:prstGeom prst="rect">
            <a:avLst/>
          </a:prstGeom>
          <a:noFill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保值、回撤控制为主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0" y="1060704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风险等级乘数  —  m_risk × MaxDD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572000" y="1417320"/>
            <a:ext cx="1234440" cy="28346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72000" y="1417320"/>
            <a:ext cx="12344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806440" y="1417320"/>
            <a:ext cx="914400" cy="28346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806440" y="1417320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m_risk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720840" y="1417320"/>
            <a:ext cx="1280160" cy="28346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720840" y="1417320"/>
            <a:ext cx="128016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MaxDD 容忍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4572000" y="1700784"/>
            <a:ext cx="3429000" cy="329184"/>
          </a:xfrm>
          <a:prstGeom prst="rect">
            <a:avLst/>
          </a:prstGeom>
          <a:solidFill>
            <a:srgbClr val="FAFAFA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572000" y="1700784"/>
            <a:ext cx="54864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63440" y="1700784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保守型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806440" y="170078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0.45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6720840" y="1700784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-5%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572000" y="2048256"/>
            <a:ext cx="3429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572000" y="2048256"/>
            <a:ext cx="54864" cy="32918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663440" y="2048256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稳健型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5806440" y="2048256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0.60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6720840" y="2048256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-10%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4572000" y="2395728"/>
            <a:ext cx="3429000" cy="329184"/>
          </a:xfrm>
          <a:prstGeom prst="rect">
            <a:avLst/>
          </a:prstGeom>
          <a:solidFill>
            <a:srgbClr val="FAFAFA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572000" y="2395728"/>
            <a:ext cx="54864" cy="32918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63440" y="2395728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平衡型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5806440" y="2395728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6720840" y="2395728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-15%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4572000" y="2743200"/>
            <a:ext cx="3429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572000" y="2743200"/>
            <a:ext cx="54864" cy="32918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663440" y="2743200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C4 进取型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5806440" y="274320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0.90</a:t>
            </a:r>
            <a:endParaRPr lang="en-US" sz="1300" dirty="0"/>
          </a:p>
        </p:txBody>
      </p:sp>
      <p:sp>
        <p:nvSpPr>
          <p:cNvPr id="70" name="Text 67"/>
          <p:cNvSpPr/>
          <p:nvPr/>
        </p:nvSpPr>
        <p:spPr>
          <a:xfrm>
            <a:off x="6720840" y="274320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-20%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4572000" y="3090672"/>
            <a:ext cx="3429000" cy="329184"/>
          </a:xfrm>
          <a:prstGeom prst="rect">
            <a:avLst/>
          </a:prstGeom>
          <a:solidFill>
            <a:srgbClr val="FAFAFA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572000" y="3090672"/>
            <a:ext cx="54864" cy="32918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663440" y="3090672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C5 激进型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5806440" y="3090672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1.00</a:t>
            </a:r>
            <a:endParaRPr lang="en-US" sz="1300" dirty="0"/>
          </a:p>
        </p:txBody>
      </p:sp>
      <p:sp>
        <p:nvSpPr>
          <p:cNvPr id="75" name="Text 72"/>
          <p:cNvSpPr/>
          <p:nvPr/>
        </p:nvSpPr>
        <p:spPr>
          <a:xfrm>
            <a:off x="6720840" y="3090672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-25%</a:t>
            </a:r>
            <a:endParaRPr lang="en-US" sz="1200" dirty="0"/>
          </a:p>
        </p:txBody>
      </p:sp>
      <p:sp>
        <p:nvSpPr>
          <p:cNvPr id="76" name="Text 73"/>
          <p:cNvSpPr/>
          <p:nvPr/>
        </p:nvSpPr>
        <p:spPr>
          <a:xfrm>
            <a:off x="4572000" y="3675888"/>
            <a:ext cx="4297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计算示例：C3 / 二人世界（S3）— σ_cap = 0.14 × 0.75 = 0.105  →  σ_mid = 0.084  →  σ_min = 0.063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核心评估指标  —  四维度双视角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双视角：绝对水平（平均年化收益/夏普/|Δσ|/MaxDD）+ 相对胜率（35画像中3.0优于420的占比）。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78992"/>
            <a:ext cx="41605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64008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088136"/>
            <a:ext cx="397764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年化收益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1499616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2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(∏(1+Rₜ))^(12/T) − 1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1883664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月度复利年化，衡量策略整体收益能力。胜率 = 3.0 收益更高的画像占比。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1078992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78992"/>
            <a:ext cx="41605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78992"/>
            <a:ext cx="64008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088136"/>
            <a:ext cx="397764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夏普比率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499616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2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mean(Rₚ − rf) / std(Rₚ − rf) × √12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1883664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逐月超额收益法，无风险利率使用 CGB_1Y（中债国债1年）。衡量风险收益效率。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62072"/>
            <a:ext cx="41605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862072"/>
            <a:ext cx="64008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871216"/>
            <a:ext cx="397764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风险匹配度 |Δσ|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3282696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2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|Vol_ann − σ_mid|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3666744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越低越接近客户风险中枢。关键理念：不是波动越低越好，而是越接近 σ_mid 越好。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2862072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862072"/>
            <a:ext cx="41605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862072"/>
            <a:ext cx="64008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871216"/>
            <a:ext cx="397764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MaxDD 触线率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3282696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2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35画像中最大回撤超红线的比例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0" y="3666744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MaxDD 红线为风险等级决定的极端回撤容忍度（C1=-5%~C5=-25%）。不进胜率表，直接看是否越线。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收益能力分析  —  3.0 全窗口领先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 在全部 5 个时间窗口的平均年化收益均高于 420_static，其中短期（1y）超额收益最显著（+4.7pp），长期（20y）差距收窄但仍保持（+0.6pp）。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795528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风险收益效率  —  1y–10y 占优，20y 需关注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1y–10y 窗口 3.0 平均夏普均高于 420_static；但在 20y 超长窗口（含 2008 危机），更高风险暴露拖累夏普（0.67 vs 0.71），胜率仅 48.6%。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795528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风险匹配度分析  —  3.0 全窗口更贴近客户画像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 在全部 5 个窗口的平均 |Δσ| 均低于 420_static，说明其组合波动更接近客户风险中枢 σ_mid，风险预算使用更合理，适配性更优。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795528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极端风险管控  —  20y 超长窗口需特别关注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1y–10y 窗口两套策略均未触碰 MaxDD 红线；在覆盖 2008 等极端市场的 20y 窗口，3.0 触线率 71.4%，420_static 为 60.0%，均承压。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15568"/>
            <a:ext cx="731520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综合胜率  —  收益优势分布广泛，风险匹配稳健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594360"/>
            <a:ext cx="54864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59436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个客户画像中，3.0 的收益胜率在 1y–10y 维持 85–89%；风险匹配胜率稳定在 57–71%；20y 夏普胜率跌至 49%，为唯一弱项。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795528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结论摘要矩阵  —  维度 × 时间窗口全景对比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566928"/>
            <a:ext cx="89611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5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9E3F00"/>
          </a:solidFill>
          <a:ln w="12700">
            <a:solidFill>
              <a:srgbClr val="9E3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综合结论与建议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9E3F00"/>
          </a:solidFill>
          <a:ln w="12700">
            <a:solidFill>
              <a:srgbClr val="9E3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7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资产配置策略定量对比报告  ·  2026.04  ·  内部使用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640080"/>
            <a:ext cx="868680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40080"/>
            <a:ext cx="73152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31520"/>
            <a:ext cx="8321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核心优势：收益更高 + 风险匹配更优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1115568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1y–20y 全窗口收益领先（胜率 77–89%）；全窗口 |Δσ| 更低，风险预算使用更合理，客户适配性更优。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029968"/>
            <a:ext cx="8686800" cy="1234440"/>
          </a:xfrm>
          <a:prstGeom prst="rect">
            <a:avLst/>
          </a:prstGeom>
          <a:solidFill>
            <a:srgbClr val="FEF3E8"/>
          </a:solidFill>
          <a:ln w="12700">
            <a:solidFill>
              <a:srgbClr val="F479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029968"/>
            <a:ext cx="73152" cy="12344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121408"/>
            <a:ext cx="8321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夏普方面：中短期占优，20y 窗口承压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" y="2505456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1y–10y 夏普均高于 420；20y 夏普（0.67）低于 420（0.71），胜率降至 49%，更高风险暴露在超长周期形成拖累。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3419856"/>
            <a:ext cx="8686800" cy="1234440"/>
          </a:xfrm>
          <a:prstGeom prst="rect">
            <a:avLst/>
          </a:prstGeom>
          <a:solidFill>
            <a:srgbClr val="FDECEA"/>
          </a:solidFill>
          <a:ln w="12700">
            <a:solidFill>
              <a:srgbClr val="CC222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419856"/>
            <a:ext cx="73152" cy="12344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511296"/>
            <a:ext cx="8321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风险提示：20y 超长窗口 MaxDD 压力更高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" y="3895344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在含 2008 等极端行情的 20y 窗口，3.0 触线率 71.4% &gt; 420 的 60.0%。建议关注极端情景下的回撤约束优化。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3675</Words>
  <Application>WPS Docs</Application>
  <PresentationFormat>On-screen Show (16:9)</PresentationFormat>
  <Paragraphs>367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SimSun</vt:lpstr>
      <vt:lpstr>Wingdings</vt:lpstr>
      <vt:lpstr>Microsoft YaHei</vt:lpstr>
      <vt:lpstr>汉仪旗黑</vt:lpstr>
      <vt:lpstr>Microsoft YaHei</vt:lpstr>
      <vt:lpstr>Microsoft YaHei</vt:lpstr>
      <vt:lpstr>Arial</vt:lpstr>
      <vt:lpstr>Arial</vt:lpstr>
      <vt:lpstr>Consolas</vt:lpstr>
      <vt:lpstr>Consolas</vt:lpstr>
      <vt:lpstr>Consolas</vt:lpstr>
      <vt:lpstr>Calibri</vt:lpstr>
      <vt:lpstr>Helvetica Neue</vt:lpstr>
      <vt:lpstr>Microsoft YaHei</vt:lpstr>
      <vt:lpstr>Arial Unicode MS</vt:lpstr>
      <vt:lpstr>苹方-简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资产配置策略定量对比报告</dc:title>
  <dc:creator>量化投资研究</dc:creator>
  <dc:subject>PptxGenJS Presentation</dc:subject>
  <cp:lastModifiedBy>Leon LZY</cp:lastModifiedBy>
  <cp:revision>2</cp:revision>
  <dcterms:created xsi:type="dcterms:W3CDTF">2026-04-14T07:16:36Z</dcterms:created>
  <dcterms:modified xsi:type="dcterms:W3CDTF">2026-04-14T07:16:36Z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3470498D7A5FC5C2D4E9DD6918C503B4_42</vt:lpwstr>
  </property>
  <property fmtid="{D5CDD505-2E9C-101B-9397-08002B2CF9AE}" pid="3" name="KSOProductBuildVer">
    <vt:lpwstr>1033-12.1.25205.25205</vt:lpwstr>
  </property>
</Properties>
</file>